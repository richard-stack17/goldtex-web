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imes New Roman" charset="1" panose="02020603050405020304"/>
      <p:regular r:id="rId23"/>
    </p:embeddedFont>
    <p:embeddedFont>
      <p:font typeface="Open Sans" charset="1" panose="020B0606030504020204"/>
      <p:regular r:id="rId24"/>
    </p:embeddedFont>
    <p:embeddedFont>
      <p:font typeface="Open Sans Bold" charset="1" panose="020B0806030504020204"/>
      <p:regular r:id="rId25"/>
    </p:embeddedFont>
    <p:embeddedFont>
      <p:font typeface="Times New Roman Bold" charset="1" panose="02020803070505020304"/>
      <p:regular r:id="rId26"/>
    </p:embeddedFont>
    <p:embeddedFont>
      <p:font typeface="Poppins Bold" charset="1" panose="00000800000000000000"/>
      <p:regular r:id="rId27"/>
    </p:embeddedFont>
    <p:embeddedFont>
      <p:font typeface="Poppins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10203" y="3393860"/>
            <a:ext cx="6867593" cy="2901558"/>
          </a:xfrm>
          <a:custGeom>
            <a:avLst/>
            <a:gdLst/>
            <a:ahLst/>
            <a:cxnLst/>
            <a:rect r="r" b="b" t="t" l="l"/>
            <a:pathLst>
              <a:path h="2901558" w="6867593">
                <a:moveTo>
                  <a:pt x="0" y="0"/>
                </a:moveTo>
                <a:lnTo>
                  <a:pt x="6867594" y="0"/>
                </a:lnTo>
                <a:lnTo>
                  <a:pt x="6867594" y="2901559"/>
                </a:lnTo>
                <a:lnTo>
                  <a:pt x="0" y="29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5028" y="2003964"/>
            <a:ext cx="8453914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522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¿QUIENES SOMOS?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5028" y="3771495"/>
            <a:ext cx="12861470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22E13"/>
                </a:solidFill>
                <a:latin typeface="Open Sans"/>
                <a:ea typeface="Open Sans"/>
                <a:cs typeface="Open Sans"/>
                <a:sym typeface="Open Sans"/>
              </a:rPr>
              <a:t>GOLDTEX es una emp</a:t>
            </a:r>
            <a:r>
              <a:rPr lang="en-US" sz="2499">
                <a:solidFill>
                  <a:srgbClr val="522E13"/>
                </a:solidFill>
                <a:latin typeface="Open Sans"/>
                <a:ea typeface="Open Sans"/>
                <a:cs typeface="Open Sans"/>
                <a:sym typeface="Open Sans"/>
              </a:rPr>
              <a:t>resa dedicada a la comercialización de telas, ubicada en el emporio comercial de Gamarra, uno de los principales centros textiles y comerciales del Perú.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22E13"/>
                </a:solidFill>
                <a:latin typeface="Open Sans"/>
                <a:ea typeface="Open Sans"/>
                <a:cs typeface="Open Sans"/>
                <a:sym typeface="Open Sans"/>
              </a:rPr>
              <a:t>Nos enfocamos en ofrecer una amplia variedad de telas que se adapten a las necesidades del mercado, atendiendo tanto a clientes mayoristas como minoristas. Nuestro compromiso se basa en brindar productos de calidad, diversidad de opciones y una atención orientada a satisfacer las expectativas de nuestros clientes.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22E13"/>
                </a:solidFill>
                <a:latin typeface="Open Sans"/>
                <a:ea typeface="Open Sans"/>
                <a:cs typeface="Open Sans"/>
                <a:sym typeface="Open Sans"/>
              </a:rPr>
              <a:t>GOLDTEX — Telas que inspiran.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67638" y="2069563"/>
            <a:ext cx="4930507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522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67638" y="3752795"/>
            <a:ext cx="12180280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22E13"/>
                </a:solidFill>
                <a:latin typeface="Open Sans"/>
                <a:ea typeface="Open Sans"/>
                <a:cs typeface="Open Sans"/>
                <a:sym typeface="Open Sans"/>
              </a:rPr>
              <a:t>Actualmente </a:t>
            </a:r>
            <a:r>
              <a:rPr lang="en-US" b="true" sz="2499">
                <a:solidFill>
                  <a:srgbClr val="522E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GOLDTEX </a:t>
            </a:r>
            <a:r>
              <a:rPr lang="en-US" sz="2499">
                <a:solidFill>
                  <a:srgbClr val="522E13"/>
                </a:solidFill>
                <a:latin typeface="Open Sans"/>
                <a:ea typeface="Open Sans"/>
                <a:cs typeface="Open Sans"/>
                <a:sym typeface="Open Sans"/>
              </a:rPr>
              <a:t>presenta una falta de identidad visual corporativa definida y coherente. Si bien cuenta con el nombre de la marca visible en su fachada, la presentación del establecimiento no refleja una imagen visual uniforme que permita diferenciarla de manera efectiva frente a la competencia.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22E13"/>
                </a:solidFill>
                <a:latin typeface="Open Sans"/>
                <a:ea typeface="Open Sans"/>
                <a:cs typeface="Open Sans"/>
                <a:sym typeface="Open Sans"/>
              </a:rPr>
              <a:t>Lo que dificulta la consolidación de una imagen de marca sólida y reconocible. Esta situación puede limitar su posicionamiento en el mercado, la recordación por parte de los clientes y la percepción de profesionalismo del negocio.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8853" y="3034955"/>
            <a:ext cx="4710294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522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13898" y="4802196"/>
            <a:ext cx="11660204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522E13"/>
                </a:solidFill>
                <a:latin typeface="Open Sans"/>
                <a:ea typeface="Open Sans"/>
                <a:cs typeface="Open Sans"/>
                <a:sym typeface="Open Sans"/>
              </a:rPr>
              <a:t>La solución propuesta para </a:t>
            </a:r>
            <a:r>
              <a:rPr lang="en-US" sz="2499" b="true">
                <a:solidFill>
                  <a:srgbClr val="522E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GOLDTEX </a:t>
            </a:r>
            <a:r>
              <a:rPr lang="en-US" sz="2499">
                <a:solidFill>
                  <a:srgbClr val="522E13"/>
                </a:solidFill>
                <a:latin typeface="Open Sans"/>
                <a:ea typeface="Open Sans"/>
                <a:cs typeface="Open Sans"/>
                <a:sym typeface="Open Sans"/>
              </a:rPr>
              <a:t>consiste en desarrollar una identidad visual que inte</a:t>
            </a:r>
            <a:r>
              <a:rPr lang="en-US" sz="2499">
                <a:solidFill>
                  <a:srgbClr val="522E13"/>
                </a:solidFill>
                <a:latin typeface="Open Sans"/>
                <a:ea typeface="Open Sans"/>
                <a:cs typeface="Open Sans"/>
                <a:sym typeface="Open Sans"/>
              </a:rPr>
              <a:t>gre elementos como el logotipo, la paleta cromática, la tipografía y los recursos gráficos, con el propósito de transmitir una imagen coherente, profesional y diferenciada, fortaleciendo su reconocimiento en el sector textil.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344230" y="6785775"/>
            <a:ext cx="205704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" id="4"/>
          <p:cNvSpPr/>
          <p:nvPr/>
        </p:nvSpPr>
        <p:spPr>
          <a:xfrm>
            <a:off x="8353877" y="3843792"/>
            <a:ext cx="205704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1039972" y="3020872"/>
            <a:ext cx="7678484" cy="54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7"/>
              </a:lnSpc>
            </a:pPr>
            <a:r>
              <a:rPr lang="en-US" b="true" sz="3763">
                <a:solidFill>
                  <a:srgbClr val="522E1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Tipografía principal.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27520" y="3960428"/>
            <a:ext cx="4103389" cy="65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5"/>
              </a:lnSpc>
              <a:spcBef>
                <a:spcPct val="0"/>
              </a:spcBef>
            </a:pPr>
            <a:r>
              <a:rPr lang="en-US" sz="3654">
                <a:solidFill>
                  <a:srgbClr val="522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new roman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956077"/>
            <a:ext cx="7678484" cy="46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5"/>
              </a:lnSpc>
            </a:pPr>
            <a:r>
              <a:rPr lang="en-US" b="true" sz="3163">
                <a:solidFill>
                  <a:srgbClr val="522E13"/>
                </a:solidFill>
                <a:latin typeface="Poppins Bold"/>
                <a:ea typeface="Poppins Bold"/>
                <a:cs typeface="Poppins Bold"/>
                <a:sym typeface="Poppins Bold"/>
              </a:rPr>
              <a:t>Tipografía secundaria.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9111" y="6629145"/>
            <a:ext cx="4340205" cy="600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5"/>
              </a:lnSpc>
              <a:spcBef>
                <a:spcPct val="0"/>
              </a:spcBef>
            </a:pPr>
            <a:r>
              <a:rPr lang="en-US" sz="3354">
                <a:solidFill>
                  <a:srgbClr val="522E13"/>
                </a:solidFill>
                <a:latin typeface="Poppins"/>
                <a:ea typeface="Poppins"/>
                <a:cs typeface="Poppins"/>
                <a:sym typeface="Poppins"/>
              </a:rPr>
              <a:t>Cantarell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4754" y="3367508"/>
            <a:ext cx="7741066" cy="93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2"/>
              </a:lnSpc>
            </a:pPr>
            <a:r>
              <a:rPr lang="en-US" b="true" sz="6478" spc="1295">
                <a:solidFill>
                  <a:srgbClr val="522E1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GOLDTEX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27841" y="6487960"/>
            <a:ext cx="5831459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spc="324">
                <a:solidFill>
                  <a:srgbClr val="522E13"/>
                </a:solidFill>
                <a:latin typeface="Poppins"/>
                <a:ea typeface="Poppins"/>
                <a:cs typeface="Poppins"/>
                <a:sym typeface="Poppins"/>
              </a:rPr>
              <a:t>TELAS QUE INSPIRAN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24741" y="2634229"/>
            <a:ext cx="11638518" cy="102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7"/>
              </a:lnSpc>
            </a:pPr>
            <a:r>
              <a:rPr lang="en-US" sz="6999">
                <a:solidFill>
                  <a:srgbClr val="522E13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CONCEPTO DE CAMPAÑA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56830" y="3949455"/>
            <a:ext cx="5337520" cy="60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8"/>
              </a:lnSpc>
            </a:pPr>
            <a:r>
              <a:rPr lang="en-US" sz="3999">
                <a:solidFill>
                  <a:srgbClr val="522E13">
                    <a:alpha val="8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lang="en-US" sz="3999">
                <a:solidFill>
                  <a:srgbClr val="522E13">
                    <a:alpha val="8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La decisión segura”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11547" y="5769451"/>
            <a:ext cx="4664905" cy="102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7"/>
              </a:lnSpc>
            </a:pPr>
            <a:r>
              <a:rPr lang="en-US" sz="6999">
                <a:solidFill>
                  <a:srgbClr val="522E13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MENSAJE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0682" y="7087423"/>
            <a:ext cx="12446635" cy="60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8"/>
              </a:lnSpc>
            </a:pPr>
            <a:r>
              <a:rPr lang="en-US" sz="3999">
                <a:solidFill>
                  <a:srgbClr val="522E13">
                    <a:alpha val="8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Una buena tela es el inicio de un gran proyecto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2220" y="4451350"/>
            <a:ext cx="10130284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22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PROPUESTAS GRAFICAS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7114" y="1028700"/>
            <a:ext cx="4629150" cy="8229600"/>
          </a:xfrm>
          <a:custGeom>
            <a:avLst/>
            <a:gdLst/>
            <a:ahLst/>
            <a:cxnLst/>
            <a:rect r="r" b="b" t="t" l="l"/>
            <a:pathLst>
              <a:path h="8229600" w="4629150">
                <a:moveTo>
                  <a:pt x="0" y="0"/>
                </a:moveTo>
                <a:lnTo>
                  <a:pt x="4629150" y="0"/>
                </a:lnTo>
                <a:lnTo>
                  <a:pt x="46291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09290" y="3921125"/>
            <a:ext cx="4222679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522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GOLDTEX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09290" y="5019675"/>
            <a:ext cx="2111340" cy="82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522E13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03508" y="646122"/>
            <a:ext cx="4221914" cy="8994756"/>
          </a:xfrm>
          <a:custGeom>
            <a:avLst/>
            <a:gdLst/>
            <a:ahLst/>
            <a:cxnLst/>
            <a:rect r="r" b="b" t="t" l="l"/>
            <a:pathLst>
              <a:path h="8994756" w="4221914">
                <a:moveTo>
                  <a:pt x="0" y="0"/>
                </a:moveTo>
                <a:lnTo>
                  <a:pt x="4221913" y="0"/>
                </a:lnTo>
                <a:lnTo>
                  <a:pt x="4221913" y="8994756"/>
                </a:lnTo>
                <a:lnTo>
                  <a:pt x="0" y="8994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62009" y="646122"/>
            <a:ext cx="5998378" cy="8994756"/>
          </a:xfrm>
          <a:custGeom>
            <a:avLst/>
            <a:gdLst/>
            <a:ahLst/>
            <a:cxnLst/>
            <a:rect r="r" b="b" t="t" l="l"/>
            <a:pathLst>
              <a:path h="8994756" w="5998378">
                <a:moveTo>
                  <a:pt x="0" y="0"/>
                </a:moveTo>
                <a:lnTo>
                  <a:pt x="5998377" y="0"/>
                </a:lnTo>
                <a:lnTo>
                  <a:pt x="5998377" y="8994756"/>
                </a:lnTo>
                <a:lnTo>
                  <a:pt x="0" y="8994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9290" y="3921125"/>
            <a:ext cx="4222679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522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GOLDTEX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09290" y="5019675"/>
            <a:ext cx="3418720" cy="82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522E13"/>
                </a:solidFill>
                <a:latin typeface="Poppins"/>
                <a:ea typeface="Poppins"/>
                <a:cs typeface="Poppins"/>
                <a:sym typeface="Poppins"/>
              </a:rPr>
              <a:t>INSTAGRAM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155637" y="673153"/>
            <a:ext cx="4850327" cy="8940694"/>
          </a:xfrm>
          <a:custGeom>
            <a:avLst/>
            <a:gdLst/>
            <a:ahLst/>
            <a:cxnLst/>
            <a:rect r="r" b="b" t="t" l="l"/>
            <a:pathLst>
              <a:path h="8940694" w="4850327">
                <a:moveTo>
                  <a:pt x="0" y="0"/>
                </a:moveTo>
                <a:lnTo>
                  <a:pt x="4850327" y="0"/>
                </a:lnTo>
                <a:lnTo>
                  <a:pt x="4850327" y="8940694"/>
                </a:lnTo>
                <a:lnTo>
                  <a:pt x="0" y="8940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87551" y="673153"/>
            <a:ext cx="8940694" cy="8940694"/>
          </a:xfrm>
          <a:custGeom>
            <a:avLst/>
            <a:gdLst/>
            <a:ahLst/>
            <a:cxnLst/>
            <a:rect r="r" b="b" t="t" l="l"/>
            <a:pathLst>
              <a:path h="8940694" w="8940694">
                <a:moveTo>
                  <a:pt x="0" y="0"/>
                </a:moveTo>
                <a:lnTo>
                  <a:pt x="8940694" y="0"/>
                </a:lnTo>
                <a:lnTo>
                  <a:pt x="8940694" y="8940694"/>
                </a:lnTo>
                <a:lnTo>
                  <a:pt x="0" y="8940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32517" y="673153"/>
            <a:ext cx="4183500" cy="8940694"/>
          </a:xfrm>
          <a:custGeom>
            <a:avLst/>
            <a:gdLst/>
            <a:ahLst/>
            <a:cxnLst/>
            <a:rect r="r" b="b" t="t" l="l"/>
            <a:pathLst>
              <a:path h="8940694" w="4183500">
                <a:moveTo>
                  <a:pt x="0" y="0"/>
                </a:moveTo>
                <a:lnTo>
                  <a:pt x="4183500" y="0"/>
                </a:lnTo>
                <a:lnTo>
                  <a:pt x="4183500" y="8940694"/>
                </a:lnTo>
                <a:lnTo>
                  <a:pt x="0" y="8940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9163" y="2752744"/>
            <a:ext cx="16230600" cy="5356098"/>
          </a:xfrm>
          <a:custGeom>
            <a:avLst/>
            <a:gdLst/>
            <a:ahLst/>
            <a:cxnLst/>
            <a:rect r="r" b="b" t="t" l="l"/>
            <a:pathLst>
              <a:path h="5356098" w="16230600">
                <a:moveTo>
                  <a:pt x="0" y="0"/>
                </a:moveTo>
                <a:lnTo>
                  <a:pt x="16230600" y="0"/>
                </a:lnTo>
                <a:lnTo>
                  <a:pt x="16230600" y="5356098"/>
                </a:lnTo>
                <a:lnTo>
                  <a:pt x="0" y="535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9290" y="3921125"/>
            <a:ext cx="4222679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522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GOLDTEX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09290" y="5019675"/>
            <a:ext cx="3182777" cy="82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522E13"/>
                </a:solidFill>
                <a:latin typeface="Poppins"/>
                <a:ea typeface="Poppins"/>
                <a:cs typeface="Poppins"/>
                <a:sym typeface="Poppins"/>
              </a:rPr>
              <a:t>FACEBOOK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9290" y="3921125"/>
            <a:ext cx="4222679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522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GOLDTEX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09290" y="5019675"/>
            <a:ext cx="7509255" cy="82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522E13"/>
                </a:solidFill>
                <a:latin typeface="Poppins"/>
                <a:ea typeface="Poppins"/>
                <a:cs typeface="Poppins"/>
                <a:sym typeface="Poppins"/>
              </a:rPr>
              <a:t>PUBLICIDAD EN LAS CALLES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731713"/>
            <a:ext cx="16230600" cy="7127517"/>
          </a:xfrm>
          <a:custGeom>
            <a:avLst/>
            <a:gdLst/>
            <a:ahLst/>
            <a:cxnLst/>
            <a:rect r="r" b="b" t="t" l="l"/>
            <a:pathLst>
              <a:path h="7127517" w="16230600">
                <a:moveTo>
                  <a:pt x="0" y="0"/>
                </a:moveTo>
                <a:lnTo>
                  <a:pt x="16230600" y="0"/>
                </a:lnTo>
                <a:lnTo>
                  <a:pt x="16230600" y="7127517"/>
                </a:lnTo>
                <a:lnTo>
                  <a:pt x="0" y="7127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9" t="-44" r="0" b="-439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9518" y="-718730"/>
            <a:ext cx="22507037" cy="11724459"/>
          </a:xfrm>
          <a:custGeom>
            <a:avLst/>
            <a:gdLst/>
            <a:ahLst/>
            <a:cxnLst/>
            <a:rect r="r" b="b" t="t" l="l"/>
            <a:pathLst>
              <a:path h="11724459" w="22507037">
                <a:moveTo>
                  <a:pt x="0" y="0"/>
                </a:moveTo>
                <a:lnTo>
                  <a:pt x="22507036" y="0"/>
                </a:lnTo>
                <a:lnTo>
                  <a:pt x="22507036" y="11724460"/>
                </a:lnTo>
                <a:lnTo>
                  <a:pt x="0" y="1172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28" r="0" b="-138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66912" y="761348"/>
            <a:ext cx="13740816" cy="9160544"/>
          </a:xfrm>
          <a:custGeom>
            <a:avLst/>
            <a:gdLst/>
            <a:ahLst/>
            <a:cxnLst/>
            <a:rect r="r" b="b" t="t" l="l"/>
            <a:pathLst>
              <a:path h="9160544" w="13740816">
                <a:moveTo>
                  <a:pt x="0" y="0"/>
                </a:moveTo>
                <a:lnTo>
                  <a:pt x="13740816" y="0"/>
                </a:lnTo>
                <a:lnTo>
                  <a:pt x="13740816" y="9160544"/>
                </a:lnTo>
                <a:lnTo>
                  <a:pt x="0" y="9160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DAHX8pTSBn0</dc:identifier>
  <dcterms:modified xsi:type="dcterms:W3CDTF">2011-08-01T06:04:30Z</dcterms:modified>
  <cp:revision>1</cp:revision>
  <dc:title>AA4</dc:title>
</cp:coreProperties>
</file>